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요약" id="{f7bd70fd-f8a0-0f2a-68ee-6720bb62b3c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+mn-lt"/>
              </a:rPr>
              <a:t>H1  구간별 소요일 (지급 완료 172,241품목)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보통(중앙값, 일)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발주→입고</c:v>
                  </c:pt>
                  <c:pt idx="1">
                    <c:v>B 입고→송장</c:v>
                  </c:pt>
                  <c:pt idx="2">
                    <c:v>C 송장→지급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8.9</c:v>
                </c:pt>
                <c:pt idx="1">
                  <c:v>8.2</c:v>
                </c:pt>
                <c:pt idx="2">
                  <c:v>43</c:v>
                </c:pt>
                <c:pt idx="3">
                  <c:v>77.1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가장 오래 걸린 10%(일)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발주→입고</c:v>
                  </c:pt>
                  <c:pt idx="1">
                    <c:v>B 입고→송장</c:v>
                  </c:pt>
                  <c:pt idx="2">
                    <c:v>C 송장→지급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30.1</c:v>
                </c:pt>
                <c:pt idx="1">
                  <c:v>42.9</c:v>
                </c:pt>
                <c:pt idx="2">
                  <c:v>97.9</c:v>
                </c:pt>
                <c:pt idx="3">
                  <c:v>126.9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475569"/>
                </a:solidFill>
                <a:latin typeface="+mn-lt"/>
              </a:rPr>
              <a:t>H2  공급사별 늦게 지급된 품목 비율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지연 비율(%)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vendorID_0136</c:v>
                  </c:pt>
                  <c:pt idx="1">
                    <c:v>vendorID_0103</c:v>
                  </c:pt>
                  <c:pt idx="2">
                    <c:v>vendorID_0278</c:v>
                  </c:pt>
                  <c:pt idx="3">
                    <c:v>vendorID_0120</c:v>
                  </c:pt>
                  <c:pt idx="4">
                    <c:v>vendorID_0182</c:v>
                  </c:pt>
                  <c:pt idx="5">
                    <c:v>전체 평균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73.2</c:v>
                </c:pt>
                <c:pt idx="1">
                  <c:v>58.5</c:v>
                </c:pt>
                <c:pt idx="2">
                  <c:v>55.4</c:v>
                </c:pt>
                <c:pt idx="3">
                  <c:v>33.6</c:v>
                </c:pt>
                <c:pt idx="4">
                  <c:v>30</c:v>
                </c:pt>
                <c:pt idx="5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P2P 구매→지급 프로세스 분석 v0.1 요약  ·  BPIC 2019 공개 데이터  ·  2026-10  ·  전체본 16장은 GitHub reports/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b="1" dirty="0">
                <a:solidFill>
                  <a:srgbClr val="1E293B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P2P 구매→지급 프로세스 분석 v0.1 요약  ·  BPIC 2019 공개 데이터  ·  2026-10  ·  전체본 16장은 GitHub reports/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P2P 구매→지급 프로세스 분석  |  데이터 분석 포트폴리오 v0.1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물건 9일, 송장 8일, 대금 지급 43일: 늦은 지급의 90%는 포장재 공급사 5곳에 집중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문제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721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회사가 물건을 사고 돈을 내기까지 어느 단계가 가장 오래 걸리는지, 도료 제조사의 실제 구매 기록 21만 건(BPIC 2019)으로 분석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13432"/>
            <a:ext cx="7315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 역할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185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질문과 측정 기준 설정, 불가능한 날짜·중복 기록 처리 규칙 수립, SQL 분석. 핵심 수치는 두 방법으로 다시 계산하고 실제 기록과 대조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026664"/>
            <a:ext cx="73152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결과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986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송장 접수 후 대금 지급까지 보통 43일, 10건 중 1건은 98일 이상. 늦은 지급의 90%가 포장재 공급사 5곳에 집중. 5곳만 우선 점검해도 지연 대부분 관리 가능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43일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4904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송장 접수 후 지급까지 보통 걸리는 기간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2130552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176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89.7%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20370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늦은 지급 17,165건 중 공급사 5곳 비중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2843784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8895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73.2%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9169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1위 공급사 품목 중 늦게 지급된 비율 (평균 10%)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4E4A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직무 연결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리드타임 지표로 병목을 정의하고 개선 대상을 좁히는 과정으로, 운영·구매·물류 데이터 분석에 그대로 적용 가능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분석 흐름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3159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43159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505456" y="43159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511296" y="43159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639312" y="43159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645152" y="43159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773168" y="43159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779008" y="43159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›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907024" y="431596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구매 기록 21만 건으로 지연 단계와 집중 대상 분석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80160"/>
            <a:ext cx="91440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상황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72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구매→지급(P2P)은 발주, 입고, 송장 접수, 지급으로 이어지는 기본 업무 흐름이며, 지급 지연은 공급사 관계와 자금 계획에 영향을 줌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실무에서는 건별로 처리하므로 전체 흐름에서 어느 단계가 막히는지 파악하기 어려움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487168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질문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발주부터 지급까지 어느 단계에서 지연이 생기고, 그 지연은 어떤 공급사에 몰려 있는가?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범위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2018-01~2019-01 발주 품목 217,406개 · 거래 방식 1종(invoice before GR, 원본의 86%)
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분석 대상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4개 시점이 모두 있는(지급 완료) 172,241품목. 미지급 44,594품목은 별도 분류
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지연 기준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송장 접수 후 98일 초과(가장 오래 걸린 10%) = 17,165품목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1280160"/>
            <a:ext cx="128016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검증할 가설 5개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572768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H1  지연은 특정 구간에 몰려 있다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H2  지연은 소수 공급사·영역에 몰려 있다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H3  거래가 많은 공급사라서 지연도 많다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H4  지급 보류가 지연의 원인이다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H5  미지급 품목은 취소·변경·누락·진행 중으로 구분된다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7180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108960"/>
            <a:ext cx="128016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 구조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3456432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cases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7216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품목별 1행 · 217,406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공급사, 지출 영역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92240" y="3794760"/>
            <a:ext cx="5029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46520" y="35661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 : 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95160" y="3456432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349300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events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37216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활동별 1행 · 1,214,244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활동명, 발생 시각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활동 28종 중 발주, 입고, 송장 접수, 지급 4개 시점 사용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분석 전 데이터 품질 규칙과 측정 기준 설정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80160"/>
            <a:ext cx="109728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 컬럼 6개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57276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cases.case_id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품목 번호(기본키) → 집계 단위, 연결 키
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cases.vendor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공급사 ID → 집중도 H2·H3
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cases.spend_area_text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지출 영역 → 집중도 H2
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events.case_id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어느 품목인지(외래키) → cases와 1:N
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events.activity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무슨 일인지(28종) → 4개 시점, 마지막 활동
</a:t>
            </a:r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293B"/>
                </a:solidFill>
              </a:rPr>
              <a:t>events.ts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  발생 시각 → 구간 소요일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834640"/>
            <a:ext cx="10972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품질 규칙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1948·1993년 등 불가능한 날짜 197행: 해당 품목 193개 전체 제외를 검토했으나 발주→지급 기록은 정상이어서, 품목은 유지하고 해당 날짜만 계산에서 제외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송장 접수가 입고보다 빠른 14,963품목(8.7%)은 이 거래 방식의 정상 흐름으로 유지. 지급이 송장 접수보다 빠른 9건은 제외(중앙값 변화 없음)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동일 품목·활동·시각 중복 1,384묶음은 첫 시각 기준이라 소요일에 영향 없음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14300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280160"/>
            <a:ext cx="109728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지표 설계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구간 4개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 발주→입고 · B 입고→송장 접수 · C 송장 접수→지급 · 전체 발주→지급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103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집계 단위는 품목. 같은 활동이 반복되면 첫 시각 사용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대표값은 중앙값(보통 며칠)과 가장 오래 걸린 10%의 경계(P90). 아주 긴 몇 건이 평균을 끌어올려 평균 미사용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공급사 송장 발행 시각은 이상 날짜 191건이 몰려 있어 제외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401568"/>
            <a:ext cx="14630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분석용 테이블 2개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case_times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 — 활동 121만 건을 품목별 1행(4개 시점의 첫 시각)으로 변환, 217,406행
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lead_times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 — 4개 시점 간 차이를 구간별 일수로 계산, 172,241행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송장 접수 후 지급까지 43일, 늦은 지급의 89.7%는 공급사 5곳</a:t>
            </a:r>
            <a:endParaRPr lang="en-US" sz="1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09728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H1 맞음. 물건은 9일, 송장은 8일이면 처리되는데 대금 지급은 43일. 10건 중 1건은 98일 이상. 지급 단계를 우선 개선 대상으로 판단</a:t>
            </a:r>
            <a:endParaRPr lang="en-US" sz="9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754880" y="109728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475488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H2 맞음. 늦은 지급 17,165건 중 15,400건(89.7%)이 포장재 공급사 5곳. 기준: 그 공급사 품목 중 늦게 지급된 비율이 평균(10%)의 3배인 30% 이상. 이 5곳을 우선 점검 대상으로 선정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거래량·지급 보류로는 설명 불가, 미지급 건도 같은 단계에서 대기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261872"/>
            <a:ext cx="23774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H3 거래가 많아서 지연도 많다: 아님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공급사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전체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지연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지연 비율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vendorID_0136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10,518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7,694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73.2%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vendorID_0120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10,411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3,493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33.6%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품목 수가 비슷한 두 공급사의 지연 비율이 2배 이상 차이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11430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1261872"/>
            <a:ext cx="274320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H4 지급 보류가 원인이다: 일부만 맞음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0136 품목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보류 해제 기록 있음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7,694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4,455 (57.9%)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지연 아님 2,824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1,201 (42.5%)</a:t>
                      </a:r>
                      <a:endParaRPr lang="en-US" sz="1050" dirty="0"/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8463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차이가 15%p에 그쳐 보류만으로는 설명 부족. 사례 품목은 보류 해제 다음 날부터 4개월간 활동 없이 대기해, 지연은 해제 이후 지급 대기에서 발생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3136392"/>
            <a:ext cx="310896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H5 미지급 44,594품목 상태 분류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0080" y="347472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31520" y="3502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33,673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64592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75.5%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진행 중 · 2018-10 이후 마지막 활동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651760" y="347472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2743200" y="3502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7,774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65760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17.4%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274320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삭제·취소로 이탈 · 마지막 활동이 Delete·Cancel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63440" y="347472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54880" y="3502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3,089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566928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6.9%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7548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기록 끊김 후보 · 2018-09 이전에 멈춤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6675120" y="3474720"/>
            <a:ext cx="1874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766560" y="3502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58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680960" y="3547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0.1%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676656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변경으로 멈춤 · 마지막 활동이 Change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640080" y="42062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진행 중 기준은 데이터 마지막 날로부터 98일 이내로, 늦은 지급 기준과 같은 숫자. 송장은 접수됐는데 지급되지 않은 건이 25,778건(57.8%)으로, 지급 완료 건과 같은 단계에서 대기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문제 정의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63040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91056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데이터·품질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596896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지표 설계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58768" y="841248"/>
            <a:ext cx="1005840" cy="20116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검증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84124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›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92624" y="841248"/>
            <a:ext cx="1005840" cy="20116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제안</a:t>
            </a:r>
            <a:endParaRPr lang="en-US" sz="800" dirty="0"/>
          </a:p>
        </p:txBody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</a:rPr>
              <a:t>공급사 5곳 우선 점검으로 늦은 지급의 90% 관리 가능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11430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71600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제안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118872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전체 공급사를 다 볼 필요 없이, 지급 담당 부서가 포장재 공급사 5곳(0136, 0103, 0278, 0120, 0182)의 결제 조건과 지급 일정부터 확인. 늦은 지급 17,165건 중 15,400건(89.7%)이 대상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075688"/>
            <a:ext cx="91440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측정 체계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1920240"/>
            <a:ext cx="676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'송장 접수 후 98일 초과'를 지연 기준으로 고정하고 공급사별 지연 비율을 매달 같은 방식으로 확인. 이번 분석 SQL을 월별 점검에 그대로 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697480"/>
            <a:ext cx="210312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한계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0175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거래 방식 1종(원본의 86%)만 있어 방식 간 비교 불가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결제 조건, 지급 일정 정보가 없어 지연 원인이 공급사 요인인지 지급 절차 요인인지 구분 불가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구매 회사별 차이 미분석. 지급 보류는 해제 기록으로만 간접 확인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64408" y="257860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01568" y="2697480"/>
            <a:ext cx="2103120" cy="27432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검증 방법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30175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미지급 44,594건을 서로 다른 두 쿼리로 산출해 일치 확인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1위 공급사 사례 품목의 원본 활동 기록과 계산된 소요일 대조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진행 중 판단 기준을 바꿔도 결론 유지 확인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71616" y="2578608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08776" y="2697480"/>
            <a:ext cx="210312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다음 질문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08776" y="30175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송장 선접수 여부에 따른 지급 소요일 차이 검정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미지급 상위 공급사(0104, 0106)의 지연 여부 추가 확인</a:t>
            </a:r>
            <a:endParaRPr lang="en-US" sz="8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chemeClr val="tx1"/>
                </a:solidFill>
              </a:rPr>
              <a:t>구매 회사별 지연 비율 비교로 절차 요인 확인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270248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270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src/run_my_sql.py   # 전체 분석 재현  |  GitHub: (공개 후 링크)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2P Teal">
  <a:themeElements>
    <a:clrScheme name="P2P Teal">
      <a:dk1>
        <a:srgbClr val="1E293B"/>
      </a:dk1>
      <a:lt1>
        <a:srgbClr val="FFFFFF"/>
      </a:lt1>
      <a:dk2>
        <a:srgbClr val="475569"/>
      </a:dk2>
      <a:lt2>
        <a:srgbClr val="F1F5F9"/>
      </a:lt2>
      <a:accent1>
        <a:srgbClr val="0D9488"/>
      </a:accent1>
      <a:accent2>
        <a:srgbClr val="D97706"/>
      </a:accent2>
      <a:accent3>
        <a:srgbClr val="2563EB"/>
      </a:accent3>
      <a:accent4>
        <a:srgbClr val="94A3B8"/>
      </a:accent4>
      <a:accent5>
        <a:srgbClr val="CCFBF1"/>
      </a:accent5>
      <a:accent6>
        <a:srgbClr val="FEF3C7"/>
      </a:accent6>
      <a:hlink>
        <a:srgbClr val="0D9488"/>
      </a:hlink>
      <a:folHlink>
        <a:srgbClr val="475569"/>
      </a:folHlink>
    </a:clrScheme>
    <a:fontScheme name="P2P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P2P 구매-지급 프로세스 분석 v0.1 요약</dc:title>
  <dc:subject>PptxGenJS Presentation</dc:subject>
  <dc:creator/>
  <cp:lastModifiedBy/>
  <cp:revision>1</cp:revision>
  <dcterms:created xsi:type="dcterms:W3CDTF">2026-10-27T07:26:03Z</dcterms:created>
  <dcterms:modified xsi:type="dcterms:W3CDTF">2026-10-27T07:26:03Z</dcterms:modified>
</cp:coreProperties>
</file>