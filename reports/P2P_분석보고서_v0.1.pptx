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결론" id="{c40b7d4b-6534-6e02-5577-1a6611b5bd03}">
          <p14:sldIdLst>
            <p14:sldId id="256"/>
            <p14:sldId id="257"/>
          </p14:sldIdLst>
        </p14:section>
        <p14:section name="문제와 데이터" id="{f06356b7-78c3-dda0-8a1c-5d2923a12211}">
          <p14:sldIdLst>
            <p14:sldId id="258"/>
            <p14:sldId id="259"/>
            <p14:sldId id="260"/>
            <p14:sldId id="261"/>
            <p14:sldId id="262"/>
          </p14:sldIdLst>
        </p14:section>
        <p14:section name="검증" id="{e6bb7c1c-7b5c-9306-7029-b03c9c514ec1}">
          <p14:sldIdLst>
            <p14:sldId id="263"/>
            <p14:sldId id="264"/>
            <p14:sldId id="265"/>
            <p14:sldId id="266"/>
            <p14:sldId id="267"/>
          </p14:sldIdLst>
        </p14:section>
        <p14:section name="결론과 제안" id="{81a4307c-15da-d0f3-312b-2129114e85c1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보통(중앙값, 일)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발주→입고</c:v>
                  </c:pt>
                  <c:pt idx="1">
                    <c:v>B 입고→송장 접수</c:v>
                  </c:pt>
                  <c:pt idx="2">
                    <c:v>C 송장 접수→지급</c:v>
                  </c:pt>
                  <c:pt idx="3">
                    <c:v>전체 발주→지급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8.9</c:v>
                </c:pt>
                <c:pt idx="1">
                  <c:v>8.2</c:v>
                </c:pt>
                <c:pt idx="2">
                  <c:v>43</c:v>
                </c:pt>
                <c:pt idx="3">
                  <c:v>77.1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가장 오래 걸린 10%(일)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발주→입고</c:v>
                  </c:pt>
                  <c:pt idx="1">
                    <c:v>B 입고→송장 접수</c:v>
                  </c:pt>
                  <c:pt idx="2">
                    <c:v>C 송장 접수→지급</c:v>
                  </c:pt>
                  <c:pt idx="3">
                    <c:v>전체 발주→지급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30.1</c:v>
                </c:pt>
                <c:pt idx="1">
                  <c:v>42.9</c:v>
                </c:pt>
                <c:pt idx="2">
                  <c:v>97.9</c:v>
                </c:pt>
                <c:pt idx="3">
                  <c:v>126.9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475569"/>
                </a:solidFill>
                <a:latin typeface="+mn-lt"/>
              </a:rPr>
              <a:t>공급사별 늦게 지급된 품목 비율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지연 비율(%)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vendorID_0136</c:v>
                  </c:pt>
                  <c:pt idx="1">
                    <c:v>vendorID_0103</c:v>
                  </c:pt>
                  <c:pt idx="2">
                    <c:v>vendorID_0278</c:v>
                  </c:pt>
                  <c:pt idx="3">
                    <c:v>vendorID_0120</c:v>
                  </c:pt>
                  <c:pt idx="4">
                    <c:v>vendorID_0182</c:v>
                  </c:pt>
                  <c:pt idx="5">
                    <c:v>전체 평균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73.2</c:v>
                </c:pt>
                <c:pt idx="1">
                  <c:v>58.5</c:v>
                </c:pt>
                <c:pt idx="2">
                  <c:v>55.4</c:v>
                </c:pt>
                <c:pt idx="3">
                  <c:v>33.6</c:v>
                </c:pt>
                <c:pt idx="4">
                  <c:v>30</c:v>
                </c:pt>
                <c:pt idx="5">
                  <c:v>10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475569"/>
                </a:solidFill>
                <a:latin typeface="+mn-lt"/>
              </a:rPr>
              <a:t>마지막 활동과 마지막 시각으로 나눈 가설 4개 (품목 수)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품목 수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진행 중 (2018-10 이후 멈춤)</c:v>
                  </c:pt>
                  <c:pt idx="1">
                    <c:v>삭제·취소로 이탈</c:v>
                  </c:pt>
                  <c:pt idx="2">
                    <c:v>기록 끊김 후보 (2018-09 이전)</c:v>
                  </c:pt>
                  <c:pt idx="3">
                    <c:v>변경으로 멈춤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33673</c:v>
                </c:pt>
                <c:pt idx="1">
                  <c:v>7774</c:v>
                </c:pt>
                <c:pt idx="2">
                  <c:v>3089</c:v>
                </c:pt>
                <c:pt idx="3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P2P 구매→지급 프로세스 분석 v0.1  ·  BPIC 2019 공개 데이터  ·  2026-10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E293B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P2P 구매→지급 프로세스 분석 v0.1  ·  BPIC 2019 공개 데이터  ·  2026-10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데이터 분석 포트폴리오 v0.1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구매에서 지급까지, 어디서 시간이 걸리나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도료 제조사의 실제 구매 기록 21만 건(BPIC 2019)으로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발주부터 지급까지 어느 단계가 가장 오래 걸리고, 그 지연이 어디에 몰려 있는지 분석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611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병목 구간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송장 접수 → 지급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보통 43일, 10건 중 1건은 98일 이상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35204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3611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집중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포장재 공급사 5곳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전체 지연의 89%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5204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08192" y="3611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제안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08192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결제 조건·지급 일정 점검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08192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5개 공급사 우선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4456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445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›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682496" y="454456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688336" y="45445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›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816352" y="454456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822192" y="45445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›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950208" y="454456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검증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956048" y="45445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›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084064" y="454456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제안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분석 요약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325880"/>
            <a:ext cx="9144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문제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3736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발주부터 지급까지 어느 구간에서 지연이 발생하며, 어떤 공급사에 집중되는가?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지급 지연은 공급사 관계와 자금 계획에 영향을 주지만, 지연 구간과 원인을 모르면 개선 대상을 정하기 어려움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114300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1325880"/>
            <a:ext cx="9144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내 역할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173736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분석 질문·지표·판단 기준 설계, 데이터 품질 규칙 수립, SQL 분석 및 검증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핵심 수치는 두 가지 방법으로 교차 확인. 판단과 검증 기록은 15쪽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114300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1325880"/>
            <a:ext cx="91440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결과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73736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송장 접수 후 지급까지 보통 43일, 10건 중 1건은 98일 이상. 늦은 지급의 90%가 포장재 공급사 5곳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거래량이나 지급 보류로는 설명되지 않음. 5개 공급사의 결제 조건과 지급 일정 우선 점검 제안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분석 흐름과 단계별 수행 내용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3840480"/>
                <a:gridCol w="640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일반적으로 하는 일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이 프로젝트에서 한 일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장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1. 문제 정의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질문·범위·가설을 정한다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지연 구간과 집중 대상 질문 설정, 2018년 before GR 품목, 가설 5개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2. 데이터 이해·품질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구조를 파악하고 결측·이상값·중복 처리 규칙을 정한다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cases 1:N events · 컬럼 10개 · 2018년 이전 날짜 규칙 · 음수·중복 처리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5~7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3. 지표 설계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무엇을 어떻게 잴지 정한다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구간 4개 · 첫 시각 · 중앙값·P90 · case_times → lead_times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4. 분석·검증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가설을 데이터로 확인한다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H1~H5 검증 · 품목 1건 직접 확인 · 다른 방법으로 재계산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9~12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5. 해석·제안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무엇을 바꿀지, 한계는 무엇인지 쓴다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5개 공급사부터 점검 · P90 기준 월별 측정 · 한계 · 판단·검증 기록 · 재현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13~16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각 장 상단에 현재 단계를 표시. 저장소 파일 번호와의 대응: ①② 데이터·품질, ③ 지표 설계, ④ 검증, ⑤⑥ 제안·재현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상황과 문제 정의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325880"/>
            <a:ext cx="109728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배경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구매→지급(P2P)은 발주, 입고, 송장 접수, 지급으로 이어지는 기본 업무 흐름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분석 데이터는 네덜란드 도료·코팅 제조사의 2018년 구매 기록을 익명화한 공개 데이터(BPIC 2019)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지급 지연은 공급사 관계, 자금 계획, 조기 결제 할인 활용에 영향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실무는 건별 처리 중심이라 전체 흐름에서 막히는 단계를 파악하기 어려움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280160"/>
            <a:ext cx="109728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핵심 질문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6276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발주부터 지급까지 어느 구간에서 지연이 발생하며,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그 지연은 어떤 공급사와 품목 영역에 집중되는가?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2606040"/>
            <a:ext cx="146304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검증할 가설 5개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9718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H1  지연은 특정 구간에 몰려 있다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H2  지연은 소수 공급사·영역에 몰려 있다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H3  거래가 많은 공급사라서 지연도 많다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H4  지급 보류가 지연의 원인이다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H5  미지급 품목은 취소·변경·누락·진행 중으로 구분된다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데이터 구성: 품목 표와 활동 기록 표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325880"/>
            <a:ext cx="109728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출처·규모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3736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BPIC 2019(프로세스 마이닝 공개 대회 데이터) 부분집합을 DuckDB에 적재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품목 217,406개, 활동 기록 1,214,244건. 기간 2018-01 ~ 2019-01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거래 방식은 '3-way match, invoice before GR' 1종(원본의 86%)으로, 송장이 입고보다 먼저 접수될 수 있음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분석 단위는 품목(case_id), 발주서의 한 줄에 해당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23360" y="1234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cases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1572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품목별 1행 · 217,406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공급사, 지출 영역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1234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events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572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활동별 1행 · 1,214,244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활동명, 발생 시각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691640"/>
            <a:ext cx="6400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89788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 : N  (case_id)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2377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한 품목의 활동 흐름 (28종 중 분석에 쓴 4개 시점)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23360" y="2743200"/>
            <a:ext cx="1005840" cy="868680"/>
          </a:xfrm>
          <a:prstGeom prst="roundRect">
            <a:avLst>
              <a:gd name="adj" fmla="val 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발주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0906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Create Purchase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Order Item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0" y="3172968"/>
            <a:ext cx="1828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212080" y="2743200"/>
            <a:ext cx="1005840" cy="868680"/>
          </a:xfrm>
          <a:prstGeom prst="roundRect">
            <a:avLst>
              <a:gd name="adj" fmla="val 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1208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입고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30906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Record Goods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Receipt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17920" y="3172968"/>
            <a:ext cx="1828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00800" y="2743200"/>
            <a:ext cx="1005840" cy="868680"/>
          </a:xfrm>
          <a:prstGeom prst="roundRect">
            <a:avLst>
              <a:gd name="adj" fmla="val 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송장 접수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30906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Record Invoice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Receipt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406640" y="3172968"/>
            <a:ext cx="1828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589520" y="2743200"/>
            <a:ext cx="1005840" cy="868680"/>
          </a:xfrm>
          <a:prstGeom prst="roundRect">
            <a:avLst>
              <a:gd name="adj" fmla="val 842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8952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지급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635240" y="30906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Clear Invoice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526280" y="3657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구간 A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715000" y="3657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구간 B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3657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구간 C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4023360" y="4023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사이사이에 지급 보류 해제, 변경·삭제·취소 등의 활동이 기록됨. 품목당 평균 활동 5.6건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분석에 사용한 컬럼 10개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310896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테이블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뜻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분석에서 쓴 곳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cases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case_id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품목 번호 = 발주서번호_줄번호 (기본키)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모든 집계의 단위, 두 테이블 연결 키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cases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purchasing_document / item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발주서 번호 / 발주서 안 줄번호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case_id의 구성 확인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cases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vendor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공급사 ID (익명화)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지연 집중도 (H2·H3)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cases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spend_area_text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지출 영역 대분류 (Packaging, Sales 등)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지연 집중도 (H2)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cases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item_category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거래 대조 방식 (1종만 존재)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데이터 범위·한계 확인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events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case_id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어느 품목의 활동인지 (외래키)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cases와 1:N 연결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events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activity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무슨 일인지 (28종)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4개 시점 추출, 마지막 활동 (H5)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events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ts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발생 시각 (UTC 저장)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구간 소요일 계산, 이상 날짜 점검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events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resource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기록한 사람 (NONE = 기록 없음 17.7%)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담당자 분석에서 제외 근거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events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net_worth_eur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품목 금액(유로), 활동마다 같은 값 반복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이번 분석에서 미사용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company, name, document_type 등 나머지 컬럼은 미사용. 컬럼 정의는 BPIC 2019 설명서와 값 분포로 확인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데이터 품질 점검 결과와 처리 규칙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219456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발견한 문제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규모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정한 처리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이유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1948·1993·2008년 같은 불가능한 날짜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197행 (공급사 송장 발행 191 + 구매요청 6)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품목은 남기고, 그 날짜만 '신뢰 불가' 표시 → 소요일 계산에서 제외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품목 193개 전체 제외를 검토했으나, 발주→지급 기록이 정상인 품목까지 빠져 날짜만 제외하는 방식으로 결정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송장 접수가 입고보다 먼저 (B 구간 음수)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14,963품목 (8.7%)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그대로 둠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'invoice before GR' 방식의 정상 흐름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지급이 송장 접수보다 먼저 (C 구간 음수)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9품목 (0.005%)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 구간 계산에서 제외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9건 원본 확인, 제외 전후 중앙값 동일(42.99). 원인은 데이터로 확인 불가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같은 (품목, 활동, 시각) 중복 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1,384묶음 (0.2%)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첫 시각만 쓰므로 소요일에 영향 없음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수량 정보가 없어 중복과 분할 입고 구분 불가. 횟수 집계 시에만 유의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resource = 'NONE' (기록자 없음)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215,245행 (17.7%)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담당자 분석에서만 제외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대부분 공급사 측 활동으로 사내 담당자 미기록이 정상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키 점검: case_id 중복 0건, 테이블 간 불일치 0건. 소요일 분석 대상은 4개 시점이 모두 있는 172,241품목(79.2%)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측정 기준: 단계 4개, 첫 시각, 중앙값과 가장 오래 걸린 10%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280160"/>
            <a:ext cx="128016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구간 3개 + 전체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27632"/>
          <a:ext cx="3749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구간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시작 → 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발주 → 입고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입고 → 송장 접수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송장 접수 → 지급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전체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발주 → 지급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40080" y="320040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집계 단위는 품목. 같은 활동이 반복되면 첫 시각 사용(마지막 시각은 분할 입고 분석이 별도로 필요해 제외)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대표값은 중앙값과 P90. 소수의 장기 지연이 평균을 왜곡하므로 평균 미사용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공급사 송장 발행 시각은 이상 날짜 191건이 몰려 있어 제외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114300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1280160"/>
            <a:ext cx="201168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분석용 테이블 1: case_times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16276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목적: 활동 121만 건을 품목별 1행(4개 시점)으로 변환해 구간 계산이 가능하도록 구성</a:t>
            </a:r>
            <a:endParaRPr lang="en-US" sz="10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176272"/>
          <a:ext cx="35661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4630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뜻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계산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case_id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품목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GROUP BY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po_ts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첫 발주 시각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MIN(발주 행의 ts)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gr_ts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첫 입고 시각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MIN(입고 행의 ts)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ir_ts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첫 송장 접수 시각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MIN(송장 행의 ts)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pay_ts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첫 지급 시각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MIN(지급 행의 ts)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493776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결과 217,406행. 지급 없음 44,594, 송장 접수 없음 18,896, 입고 없음 12,143, 발주 없음 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H1 검증: 송장 접수 후 지급까지 43일, 가장 긴 단계</a:t>
            </a:r>
            <a:endParaRPr lang="en-US" sz="2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09728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지급 완료 172,241품목 기준. 중앙값은 합산되지 않으므로 A+B+C와 전체가 다름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114300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607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C 구간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1463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43일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0" y="1508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송장 접수 후 지급까지 보통 걸리는 기간. 물건은 9일, 송장은 8일이면 처리되는데 대금 지급은 5배 넘게 걸림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2697480"/>
            <a:ext cx="310896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60720" y="2834640"/>
            <a:ext cx="201168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분석용 테이블 2: lead_times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목적: 4개 시점 간 차이를 구간별 일수로 계산. 4개 시점이 모두 있는 품목 대상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a_발주_입고 = (epoch(gr_ts) − epoch(po_ts)) / 86400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b, c, 전체도 같은 방식으로 계산, C 구간 음수 9건 제외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H2 검증: 늦은 지급의 89.7%는 포장재 공급사 5곳</a:t>
            </a:r>
            <a:endParaRPr lang="en-US" sz="2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097280"/>
          <a:ext cx="4480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297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늦은 지급 기준: 송장 접수 후 98일 초과(가장 오래 걸린 10%) = 17,165품목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12064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0352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5개 공급사 지연 15,400건, 전체의 89.7%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1600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1위 공급사 0136이 7,694건(44.8%)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지출 영역 기준 포장재(Packaging)가 지연의 93.4%(지연 비율 21.9%, 그 외 영역 2.5% 이하)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공급사×영역 교차 시 5개 공급사의 지연은 대부분 Packaging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120640" y="28803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3520" y="3017520"/>
            <a:ext cx="164592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판단 기준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33375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범위: 지연 누적 90%를 포함하는 상위 10개 공급사(92.9%)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우선 대상: 지연 비율 30% 이상(전체 평균 10%의 3배)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사용 테이블: lead_times와 cases 결합(vendor, spend_area_text)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H3·H4 검증: 거래량·지급 보류로는 설명 불가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280160"/>
            <a:ext cx="237744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H3 거래가 많아서 지연도 많다: 아님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822960"/>
                <a:gridCol w="8229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공급사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전체 품목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지연 품목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지연 비율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vendorID_0136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10,518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7,694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73.2%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vendorID_0120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10,411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3,493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33.6%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품목 수가 비슷한 두 공급사의 지연 비율이 2배 이상 차이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11430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1280160"/>
            <a:ext cx="292608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H4 지급 보류가 원인이다: 일부만 맞음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45920"/>
          <a:ext cx="3657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0136 품목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보류 해제 기록 있음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지연 7,694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4,455 (57.9%)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지연 아님 2,824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1,201 (42.5%)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484632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차이 15%p로 보류만으로는 설명 부족. 보류 설정 기록은 52건뿐이라 해제 기록으로 간접 확인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" y="310896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0080" y="3200400"/>
            <a:ext cx="237744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사례 품목 원본 확인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1234440" y="36118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435608" y="3712464"/>
            <a:ext cx="139903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22960" y="3840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7/24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22960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발주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834640" y="36118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035808" y="3712464"/>
            <a:ext cx="139903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423160" y="3840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8/7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2423160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입고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434840" y="36118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636008" y="3712464"/>
            <a:ext cx="139903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023360" y="3840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8/9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023360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송장 접수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6035040" y="36118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36208" y="3712464"/>
            <a:ext cx="1399032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dash"/>
          </a:ln>
        </p:spPr>
      </p:sp>
      <p:sp>
        <p:nvSpPr>
          <p:cNvPr id="36" name="Text 32"/>
          <p:cNvSpPr txBox="1"/>
          <p:nvPr/>
        </p:nvSpPr>
        <p:spPr>
          <a:xfrm>
            <a:off x="5623560" y="3840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8/10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5623560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보류 해제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7635240" y="361188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223760" y="3840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12/7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7223760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지급</a:t>
            </a:r>
            <a:endParaRPr lang="en-US" sz="950" dirty="0"/>
          </a:p>
        </p:txBody>
      </p:sp>
      <p:sp>
        <p:nvSpPr>
          <p:cNvPr id="41" name="Text 37"/>
          <p:cNvSpPr txBox="1"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품목 4508044951_00020(0136, C 구간 119.9일): 보류 해제 다음 날부터 4개월간 활동 없이 대기. 지연은 보류 처리가 아니라 해제 이후 지급 대기에서 발생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H5 검증: 미지급 건의 75.5%는 진행 중</a:t>
            </a:r>
            <a:endParaRPr lang="en-US" sz="2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09728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75.5% / 17.4% / 6.9% / 0.1%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12080" y="11430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9496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57.8%가 송장 접수 후 지급 대기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16002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마지막 활동이 송장 접수 또는 보류 해제인 25,778품목. 지급 완료 품목과 같은 C 구간에서 정체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12080" y="27432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94960" y="2880360"/>
            <a:ext cx="146304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분류 기준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3200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품목별 마지막 활동으로 삭제·취소·변경 먼저 분류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나머지는 마지막 시각 기준. 데이터 종료 시점(2019-01)에서 P90(97.9일) 이내면 진행 중으로 분류해 지연 기준과 통일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기준을 2018-11로 바꿔도 83%로 결론 동일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결론: 공급사 5곳 우선 점검으로 늦은 지급의 90% 관리 가능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417320"/>
            <a:ext cx="118872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처음 질문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125272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어느 구간에서 지연이 발생하며, 어떤 공급사에 집중되는가?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331720"/>
            <a:ext cx="118872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확인한 문제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16712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송장 접수 후 지급까지 보통 43일로 가장 긴 단계이며, 늦은 지급의 89.7%가 포장재 공급사 5곳에 집중. 거래량이나 보류로는 설명되지 않고, 미지급 2.6만 건도 같은 단계에서 대기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246120"/>
            <a:ext cx="118872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제안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308152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전체 공급사를 다 볼 필요 없이, 지급 담당 부서가 포장재 공급사 5곳의 결제 조건과 지급 일정부터 확인. 늦은 지급의 89.7%가 대상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133088"/>
            <a:ext cx="118872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측정 체계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397764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'송장 접수 후 98일 초과'를 지연 기준으로 고정하고 공급사별 지연 비율을 매달 같은 방식으로 확인. 이번 분석 SQL을 월별 점검에 그대로 사용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한계와 다음 질문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325880"/>
            <a:ext cx="146304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한계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거래 방식 1종(invoice before GR, 원본의 86%)만 포함되어 방식 간 비교 불가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결제 조건, 지급 일정 정보가 없어 지연 원인이 공급사 요인인지 지급 절차 요인인지 구분 불가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구매 회사(company)별 차이 미분석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지급 보류는 해제 기록(54,458건)으로만 간접 확인, 설정 기록은 52건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미지급 품목의 진행 중 판단 기준(2018-10)은 P90을 적용한 가정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325880"/>
            <a:ext cx="146304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다음 질문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송장 선접수 여부에 따른 지급 소요일 차이 검정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미지급 상위 공급사(0104, 0106)의 지연 여부 추가 확인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구매 회사별 지연 비율 비교로 절차 요인 확인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월별 지연 비율 추이로 측정 체계 적용 가능성 확인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주요 판단과 검증 기록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03120"/>
                <a:gridCol w="246888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검토한 대안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정한 것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검증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품질 규칙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2018년 이전 날짜가 있는 품목 193개 통째 제외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품목은 남기고 날짜만 '신뢰 불가' 표시 → 소요일 계산에서 제외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사례 품목의 발주→지급 기록이 정상. 전체 제외 시 송장 선접수 품목이 편향적으로 빠짐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지표 정의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마지막 시각 기준, 평균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첫 시각 기준, 중앙값·P90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미지급 44,594건을 서로 다른 두 쿼리로 산출해 일치 확인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집중도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지연 건수만으로 순위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지연 건수 + 지연 비율(전체 품목 대비) 함께, 우선 대상 기준은 평균의 3배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1위 공급사 사례 품목의 원본 기록과 계산된 소요일 대조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미지급 분류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경계 2018-11 (데이터 끝 2~3개월)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경계 2018-10 (데이터 끝에서 P90 97.9일 안) → 지연 기준과 같은 숫자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기준을 11월로 바꿔도 83%로 결론 유지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 음수 9건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그대로 두기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 계산에서 제외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제외 전후 중앙값 동일(42.99)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모든 수치는 저장소에서 명령 한 줄로 재현 가능(16쪽). 단계별 결정 근거는 notes/ 폴더에 기록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재현 방법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모든 수치는 저장소에서 명령 한 줄로 재현 가능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src/run_my_sql.py     # my_sql/01~06 순서대로 실행, 쿼리별 결과 출력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295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my_sql/01~02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데이터 이해 · 품질 점검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224028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295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my_sql/03~04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지표 정의 · 구간 소요일 · 음수 검증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26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my_sql/05~06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282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지연 집중도 · 미지급 가설 구분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3026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notes/my_01~04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282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단계별 질문, 결정, 결과, 한계 기록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758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src/run_my_sql.py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014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읽기 전용 연결로 임시 테이블을 유지하며 전체 실행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70332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3758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data/p2p.duckdb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4014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BPIC 2019 부분집합 적재본 (src/load.py로 생성)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GitHub: (공개 후 링크)   ·   데이터 출처: BPIC 2019, Zenodo record 17295283 (3-way match, invoice before GR 부분집합)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2P Teal">
  <a:themeElements>
    <a:clrScheme name="P2P Teal">
      <a:dk1>
        <a:srgbClr val="1E293B"/>
      </a:dk1>
      <a:lt1>
        <a:srgbClr val="FFFFFF"/>
      </a:lt1>
      <a:dk2>
        <a:srgbClr val="475569"/>
      </a:dk2>
      <a:lt2>
        <a:srgbClr val="F1F5F9"/>
      </a:lt2>
      <a:accent1>
        <a:srgbClr val="0D9488"/>
      </a:accent1>
      <a:accent2>
        <a:srgbClr val="D97706"/>
      </a:accent2>
      <a:accent3>
        <a:srgbClr val="2563EB"/>
      </a:accent3>
      <a:accent4>
        <a:srgbClr val="94A3B8"/>
      </a:accent4>
      <a:accent5>
        <a:srgbClr val="CCFBF1"/>
      </a:accent5>
      <a:accent6>
        <a:srgbClr val="FEF3C7"/>
      </a:accent6>
      <a:hlink>
        <a:srgbClr val="0D9488"/>
      </a:hlink>
      <a:folHlink>
        <a:srgbClr val="475569"/>
      </a:folHlink>
    </a:clrScheme>
    <a:fontScheme name="P2P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P2P 구매-지급 프로세스 분석 v0.1</dc:title>
  <dc:subject>PptxGenJS Presentation</dc:subject>
  <dc:creator/>
  <cp:lastModifiedBy/>
  <cp:revision>1</cp:revision>
  <dcterms:created xsi:type="dcterms:W3CDTF">2026-10-27T07:26:28Z</dcterms:created>
  <dcterms:modified xsi:type="dcterms:W3CDTF">2026-10-27T07:26:28Z</dcterms:modified>
</cp:coreProperties>
</file>